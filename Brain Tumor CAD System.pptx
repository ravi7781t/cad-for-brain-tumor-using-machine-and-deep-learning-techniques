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66" r:id="rId14"/>
    <p:sldId id="267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10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51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01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08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en/graph-pie-chart-business-finance-963016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netforemost.com/speed-up-machine-learning-model-train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risclinicalresearch.com/clinical-trials-essential-information-before-participation/" TargetMode="Externa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042-024-20117-x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3390/biomedicines110101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5000">
              <a:schemeClr val="accent1">
                <a:lumMod val="45000"/>
                <a:lumOff val="55000"/>
              </a:schemeClr>
            </a:gs>
            <a:gs pos="43000">
              <a:schemeClr val="accent1">
                <a:lumMod val="45000"/>
                <a:lumOff val="55000"/>
              </a:schemeClr>
            </a:gs>
            <a:gs pos="96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6832" y="796285"/>
            <a:ext cx="6010117" cy="548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Computer-Aided Diagnosis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38483" y="1635454"/>
            <a:ext cx="4666814" cy="60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Tumor Classification Using ML &amp; DL Techniques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35053" y="2512659"/>
            <a:ext cx="3673674" cy="54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Framework for Clinical Decision Support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30286" y="3262202"/>
            <a:ext cx="8083319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7COM1039 – Advanced Master Project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30286" y="3542330"/>
            <a:ext cx="8083319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Hertfordshire</a:t>
            </a: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School of Physics, Engineering &amp; Computer Science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68468F8-3122-478F-9B6A-5C0D4454EE3B}"/>
              </a:ext>
            </a:extLst>
          </p:cNvPr>
          <p:cNvSpPr/>
          <p:nvPr/>
        </p:nvSpPr>
        <p:spPr>
          <a:xfrm>
            <a:off x="2735053" y="4197400"/>
            <a:ext cx="3673674" cy="54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</a:t>
            </a:r>
          </a:p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cs typeface="Arial" pitchFamily="34" charset="-120"/>
              </a:rPr>
              <a:t>Ravi Varma </a:t>
            </a:r>
            <a:r>
              <a:rPr lang="en-US" sz="1600" dirty="0" err="1">
                <a:solidFill>
                  <a:schemeClr val="tx2"/>
                </a:solidFill>
                <a:latin typeface="Arial" pitchFamily="34" charset="0"/>
                <a:cs typeface="Arial" pitchFamily="34" charset="-120"/>
              </a:rPr>
              <a:t>Tiriveedi</a:t>
            </a:r>
            <a:endParaRPr lang="en-US" sz="1600" dirty="0">
              <a:solidFill>
                <a:schemeClr val="tx2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823489"/>
            <a:ext cx="4905895" cy="185439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077959"/>
            <a:ext cx="4905895" cy="1798841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963" y="183527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068" y="1052022"/>
            <a:ext cx="7617110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2779" y="1410091"/>
            <a:ext cx="7163043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MRI analysis is time-consuming &amp; skill-dependent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interpretation increases diagnostic variability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in treatment planning impact patient outcomes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computational burden on radiologists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068" y="3306493"/>
            <a:ext cx="7617110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2779" y="3664563"/>
            <a:ext cx="7163043" cy="143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tumor detection &amp; classification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ML-DL framework for robustness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for clinical trust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3 tumor types: Glioma, Meningioma, Pituitary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241044"/>
            <a:ext cx="7924823" cy="14014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290590"/>
            <a:ext cx="7924823" cy="154792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04988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 &amp; Literature Gap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286" y="882974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8068" y="1469577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do hybrid ML-DL models compare in accuracy &amp; generalization?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068" y="1835143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traditional ML (SVM, RF) + DL (ResNet50, EfficientNet) outperform individual approaches?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068" y="2200710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we quantify explainability (Grad-CAM, SHAP) for clinical adoption?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286" y="2932520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 Filled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2779" y="3519124"/>
            <a:ext cx="7163043" cy="165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Unified comparison: ML vs DL vs Hybrid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Multi-dataset validation (Figshare + Kaggle)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Quantified explainability assessment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Cross-dataset generalization study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End-to-end clinical deployment pipeline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9" y="743431"/>
            <a:ext cx="7924823" cy="825369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0284" y="1864768"/>
            <a:ext cx="7924823" cy="825338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282" y="3005161"/>
            <a:ext cx="7924823" cy="80775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379" y="4179138"/>
            <a:ext cx="7924823" cy="837415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285" y="260173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Pipeline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534" y="758755"/>
            <a:ext cx="7772513" cy="32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34" y="1154970"/>
            <a:ext cx="7772513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34" y="1379147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Figshare (3064) + Kaggle (7023) images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341" y="1592514"/>
            <a:ext cx="8083319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b="1" dirty="0"/>
          </a:p>
        </p:txBody>
      </p:sp>
      <p:sp>
        <p:nvSpPr>
          <p:cNvPr id="11" name="Text 9"/>
          <p:cNvSpPr/>
          <p:nvPr/>
        </p:nvSpPr>
        <p:spPr>
          <a:xfrm>
            <a:off x="606439" y="1889849"/>
            <a:ext cx="7772513" cy="32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6439" y="2286062"/>
            <a:ext cx="7772513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6439" y="2503354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Resize, normalize, augment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341" y="2766442"/>
            <a:ext cx="8083319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606437" y="3020485"/>
            <a:ext cx="7772513" cy="32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6437" y="3416698"/>
            <a:ext cx="7772513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6437" y="3626160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DL (5 models)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4244" y="3885781"/>
            <a:ext cx="8083319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609534" y="4220378"/>
            <a:ext cx="7772513" cy="32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9534" y="4616591"/>
            <a:ext cx="7772513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534" y="4829801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+ explainability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5" y="1182741"/>
            <a:ext cx="5043131" cy="152330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72167" y="3324810"/>
            <a:ext cx="4441437" cy="152330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285" y="232229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 Two Approaches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5" y="813262"/>
            <a:ext cx="2336285" cy="28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889" y="1262418"/>
            <a:ext cx="7617110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Descriptors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3600" y="1627984"/>
            <a:ext cx="7163043" cy="94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GLCM: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Gray-Level Co-occurrence (contrast, homogeneity, energy)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LBP: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Binary Patterns (texture features)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Histogram of Oriented Gradients (edge/shape)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889" y="2460123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to: SVM, Random Forest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72167" y="2966741"/>
            <a:ext cx="2133085" cy="22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00701" y="3405032"/>
            <a:ext cx="2151875" cy="2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Feature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5413" y="3770598"/>
            <a:ext cx="3958992" cy="948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50-layer residual network (transfer learning)</a:t>
            </a:r>
            <a:endParaRPr lang="en-US" sz="1050" dirty="0"/>
          </a:p>
          <a:p>
            <a:pPr marL="342900" indent="-342900" algn="just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efficiency-accuracy (mobile-ready)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 layers learn optimal representations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99199" y="4574532"/>
            <a:ext cx="2850062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classification on raw images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3558" y="1786378"/>
            <a:ext cx="3098800" cy="708531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93613" y="2490924"/>
            <a:ext cx="3098800" cy="56016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93613" y="3051086"/>
            <a:ext cx="3098800" cy="564999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286" y="388213"/>
            <a:ext cx="4491658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Preprocessing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93613" y="1397654"/>
            <a:ext cx="2096800" cy="26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67587" y="1786379"/>
            <a:ext cx="7772513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10,087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167587" y="2231980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MRI Images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67642" y="2418732"/>
            <a:ext cx="7772513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167643" y="2854449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Classes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67642" y="2983732"/>
            <a:ext cx="7772513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167642" y="3421700"/>
            <a:ext cx="7772513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600" y="1422247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Steps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1891" y="1905724"/>
            <a:ext cx="4042338" cy="165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Resize to 224×224 pixels (standard for transfer learning)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Normalize pixel intensities [0, 1]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augmentation: rotation, flip, zoom, brightness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 balancing using weights (mitigate imbalance)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Train/Val/Test split: 70/15/15 (no leakage)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829A4B-7069-4109-80D2-F4411BD28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32682" y="3302815"/>
            <a:ext cx="2393915" cy="1633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3542" y="1215581"/>
            <a:ext cx="1464689" cy="869542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96639" y="1215581"/>
            <a:ext cx="1464689" cy="88432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3895" y="2649606"/>
            <a:ext cx="1464689" cy="874697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229" y="281892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0" y="1233825"/>
            <a:ext cx="1027774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0" y="1403380"/>
            <a:ext cx="1027774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1647" y="1873440"/>
            <a:ext cx="1027774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15097" y="1248608"/>
            <a:ext cx="1027774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15097" y="1418162"/>
            <a:ext cx="1027774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88.5%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714744" y="1879596"/>
            <a:ext cx="1027774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07983" y="2649606"/>
            <a:ext cx="991791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07983" y="2819161"/>
            <a:ext cx="991791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607630" y="3295356"/>
            <a:ext cx="991791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14744" y="2661092"/>
            <a:ext cx="991791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⭐</a:t>
            </a:r>
            <a:endParaRPr lang="en-US" sz="1050" b="1" dirty="0"/>
          </a:p>
        </p:txBody>
      </p:sp>
      <p:sp>
        <p:nvSpPr>
          <p:cNvPr id="17" name="Text 15"/>
          <p:cNvSpPr/>
          <p:nvPr/>
        </p:nvSpPr>
        <p:spPr>
          <a:xfrm>
            <a:off x="6714391" y="2817252"/>
            <a:ext cx="991791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95.8%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14391" y="3293447"/>
            <a:ext cx="991791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b="1" dirty="0"/>
          </a:p>
        </p:txBody>
      </p:sp>
      <p:sp>
        <p:nvSpPr>
          <p:cNvPr id="19" name="Text 17"/>
          <p:cNvSpPr/>
          <p:nvPr/>
        </p:nvSpPr>
        <p:spPr>
          <a:xfrm>
            <a:off x="986125" y="1315305"/>
            <a:ext cx="3059933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86125" y="1643379"/>
            <a:ext cx="2695222" cy="13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DL outperforms ML by 7-9%</a:t>
            </a:r>
            <a:endParaRPr lang="en-US" sz="1050" dirty="0"/>
          </a:p>
          <a:p>
            <a:pPr algn="l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EfficientNet best balance (accuracy, speed)</a:t>
            </a:r>
            <a:endParaRPr lang="en-US" sz="1050" dirty="0"/>
          </a:p>
          <a:p>
            <a:pPr algn="l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Precision &amp; Recall consistently high</a:t>
            </a:r>
            <a:endParaRPr lang="en-US" sz="1050" dirty="0"/>
          </a:p>
          <a:p>
            <a:pPr algn="l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Robust across datasets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3D146F4-5BBC-4FE9-B91C-4C77BFFB9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86125" y="3110649"/>
            <a:ext cx="2558113" cy="1705742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05" y="3206496"/>
            <a:ext cx="5147138" cy="165254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34" y="313814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Explainability: Grad-CAM Visualization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85581" y="1010187"/>
            <a:ext cx="4434496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Explainability Matters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90293" y="1368256"/>
            <a:ext cx="4042833" cy="13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Trust: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Radiologists need to understand model decisions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Identification: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Grad-CAM highlights tumor areas</a:t>
            </a:r>
            <a:endParaRPr lang="en-US" sz="1050" dirty="0"/>
          </a:p>
          <a:p>
            <a:pPr algn="just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focuses on clinically relevant regions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Transparent AI for regulatory compliance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3005" y="2848425"/>
            <a:ext cx="5250081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Results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81539" y="3435031"/>
            <a:ext cx="4783872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Accuracy: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92% overlap with radiologist annotations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1539" y="3762453"/>
            <a:ext cx="4783872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Localization: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Precise bounding of tumor regions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1539" y="4089875"/>
            <a:ext cx="4783872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 Reduction: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verification prevents misclassification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1539" y="4417296"/>
            <a:ext cx="4783872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Actionability: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support for surgical planning</a:t>
            </a:r>
            <a:endParaRPr lang="en-US" sz="1200" dirty="0"/>
          </a:p>
        </p:txBody>
      </p:sp>
      <p:pic>
        <p:nvPicPr>
          <p:cNvPr id="4098" name="Picture 2" descr="Doctor reviewing MRI scans">
            <a:extLst>
              <a:ext uri="{FF2B5EF4-FFF2-40B4-BE49-F238E27FC236}">
                <a16:creationId xmlns:a16="http://schemas.microsoft.com/office/drawing/2014/main" id="{C05C3939-7EE4-4AC7-B01E-3C8F6864B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566"/>
          <a:stretch/>
        </p:blipFill>
        <p:spPr bwMode="auto">
          <a:xfrm>
            <a:off x="406334" y="2888212"/>
            <a:ext cx="2794135" cy="1970827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014638-A814-4DD1-9005-B70C5716B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66839" y="966146"/>
            <a:ext cx="2857500" cy="1793731"/>
          </a:xfrm>
          <a:prstGeom prst="rect">
            <a:avLst/>
          </a:prstGeom>
          <a:effectLst>
            <a:softEdge rad="381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996352"/>
            <a:ext cx="7924823" cy="286700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68" y="1305583"/>
            <a:ext cx="7467755" cy="1903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68" y="1305583"/>
            <a:ext cx="2090870" cy="19039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068" y="1863072"/>
            <a:ext cx="7467755" cy="1903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068" y="1863072"/>
            <a:ext cx="1717477" cy="19039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122" y="2396205"/>
            <a:ext cx="7467755" cy="1903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122" y="2396205"/>
            <a:ext cx="1344194" cy="19039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068" y="2923010"/>
            <a:ext cx="7467755" cy="1903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068" y="2923010"/>
            <a:ext cx="1194814" cy="19039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8122" y="3513005"/>
            <a:ext cx="7467755" cy="190390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8122" y="3513005"/>
            <a:ext cx="1120069" cy="190390"/>
          </a:xfrm>
          <a:prstGeom prst="rect">
            <a:avLst/>
          </a:prstGeom>
          <a:solidFill>
            <a:srgbClr val="0EA5E9"/>
          </a:solidFill>
          <a:ln/>
        </p:spPr>
        <p:txBody>
          <a:bodyPr wrap="non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1037" y="171823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SHAP: Global Feature Importance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0286" y="674638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Features (SHAP)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8068" y="1072526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Texture Complexity (GLCM)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29663" y="1495971"/>
            <a:ext cx="233217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068" y="1600144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Pixel Intensity Pattern (LBP)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29663" y="2053460"/>
            <a:ext cx="233217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8122" y="2133277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Edge Distribution (HOG)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9717" y="2586598"/>
            <a:ext cx="233217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8068" y="2660082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Spatial Info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9663" y="3113398"/>
            <a:ext cx="233217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8122" y="3250076"/>
            <a:ext cx="7617110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Other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9717" y="3703398"/>
            <a:ext cx="233217" cy="15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534" y="3968117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883503" y="3985793"/>
            <a:ext cx="8083319" cy="20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values quantify each feature's contribution to predictions: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4662293" y="4279636"/>
            <a:ext cx="3367424" cy="791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Supports clinical reasoning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Identifies critical features for future models</a:t>
            </a:r>
            <a:endParaRPr lang="en-US" sz="10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54C793B-5316-4C32-B2D0-0503B54C9FF0}"/>
              </a:ext>
            </a:extLst>
          </p:cNvPr>
          <p:cNvSpPr/>
          <p:nvPr/>
        </p:nvSpPr>
        <p:spPr>
          <a:xfrm>
            <a:off x="779131" y="4266543"/>
            <a:ext cx="3367424" cy="791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Texture features dominate (51% combined)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Spatial patterns important for classification</a:t>
            </a:r>
            <a:endParaRPr lang="en-US" sz="1050" dirty="0"/>
          </a:p>
          <a:p>
            <a:pPr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Validates domain knowledge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451037" y="171823"/>
            <a:ext cx="1530163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cs typeface="Arial" pitchFamily="34" charset="-120"/>
              </a:rPr>
              <a:t>Results</a:t>
            </a:r>
            <a:endParaRPr lang="en-US" sz="2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25F750-E578-4EEE-9CB4-39CF40B48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07" y="679282"/>
            <a:ext cx="2929785" cy="192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+T5v5P8iECLQAAAABJRU5ErkJggg== (1139×788)">
            <a:extLst>
              <a:ext uri="{FF2B5EF4-FFF2-40B4-BE49-F238E27FC236}">
                <a16:creationId xmlns:a16="http://schemas.microsoft.com/office/drawing/2014/main" id="{7B816D5F-197B-4736-8EC0-58007E3AE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617" y="837065"/>
            <a:ext cx="4964983" cy="3708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9364299-B661-4A6A-8638-16BF0E066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07" y="2698503"/>
            <a:ext cx="2929785" cy="227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652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1"/>
          <p:cNvSpPr/>
          <p:nvPr/>
        </p:nvSpPr>
        <p:spPr>
          <a:xfrm>
            <a:off x="451037" y="171823"/>
            <a:ext cx="1530163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cs typeface="Arial" pitchFamily="34" charset="-120"/>
              </a:rPr>
              <a:t>Results</a:t>
            </a:r>
            <a:endParaRPr lang="en-US" sz="27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C0BC851-2D0C-402E-952A-4BC9907A2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77" y="1081313"/>
            <a:ext cx="2795262" cy="289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52AB82D-1160-45EE-AEA6-7FCD6CB9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584" y="1081313"/>
            <a:ext cx="2795262" cy="289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C27815A-31BF-4A6E-A86B-9A1E1B169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492" y="1081313"/>
            <a:ext cx="2795263" cy="289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30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038" y="1093455"/>
            <a:ext cx="4637380" cy="284314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40519" y="1090884"/>
            <a:ext cx="2134224" cy="119999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40519" y="2290880"/>
            <a:ext cx="2134224" cy="119999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0519" y="3490877"/>
            <a:ext cx="2134224" cy="1199996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1038" y="217352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Validation Example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1038" y="734382"/>
            <a:ext cx="3076515" cy="233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Glioma Detection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9571" y="1215212"/>
            <a:ext cx="4124658" cy="25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MRI Scan: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Female, 45 yrs, headache symptoms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9571" y="1542634"/>
            <a:ext cx="3841629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Radiologist Assessment: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Suspected glioma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9571" y="2067611"/>
            <a:ext cx="2274086" cy="2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571" y="2356998"/>
            <a:ext cx="2404715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Glioma (Confidence: 96.2%)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571" y="2722567"/>
            <a:ext cx="1446772" cy="28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Focus: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9571" y="3011954"/>
            <a:ext cx="4306086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Correctly identified tumor location, matching radiologist's assessment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9571" y="3351063"/>
            <a:ext cx="931515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9571" y="3640450"/>
            <a:ext cx="4182715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Diagnosis confirmed; surgery planned successfully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40519" y="740009"/>
            <a:ext cx="1596057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Metrics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14084" y="1319419"/>
            <a:ext cx="2280941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1.5x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14084" y="1875594"/>
            <a:ext cx="2280941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Diagnosis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4084" y="2519415"/>
            <a:ext cx="2280941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214084" y="3075591"/>
            <a:ext cx="2280941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4084" y="3719412"/>
            <a:ext cx="2280941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214084" y="4275587"/>
            <a:ext cx="2280941" cy="1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Trust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82925" y="4695523"/>
            <a:ext cx="3511876" cy="242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Multi-case validation confirms deployment readiness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285" y="290221"/>
            <a:ext cx="8083319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286" y="1249496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246" y="1607567"/>
            <a:ext cx="7620110" cy="13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 resolution &amp; brightness in source images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Pituitary tumors underrepresented (mitigated with class weights)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ResNet50/EfficientNet require GPU (solved with Colab)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Noise: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Annotation inconsistencies (±uncertainty inherent)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30286" y="3139171"/>
            <a:ext cx="8083319" cy="20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Required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246" y="3497242"/>
            <a:ext cx="7620110" cy="1303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Validation: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on non-Siemens/GE MRI equipment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 Turbine Data: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to 3D volumetric MRI (current: 2D slices)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Cross-Hospital Study: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Real-world multi-site validation needed</a:t>
            </a:r>
            <a:endParaRPr lang="en-US" sz="1050" dirty="0"/>
          </a:p>
          <a:p>
            <a:pPr algn="ctr">
              <a:lnSpc>
                <a:spcPts val="1890"/>
              </a:lnSpc>
              <a:buSzPct val="100000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</a:t>
            </a: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Privacy-Preserving: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Federated learning for distributed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">
            <a:extLst>
              <a:ext uri="{FF2B5EF4-FFF2-40B4-BE49-F238E27FC236}">
                <a16:creationId xmlns:a16="http://schemas.microsoft.com/office/drawing/2014/main" id="{560E81C9-BE6B-4F4B-8FB6-9E023F0ABFBD}"/>
              </a:ext>
            </a:extLst>
          </p:cNvPr>
          <p:cNvSpPr/>
          <p:nvPr/>
        </p:nvSpPr>
        <p:spPr>
          <a:xfrm>
            <a:off x="747101" y="893564"/>
            <a:ext cx="1992218" cy="2947103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222045" y="346297"/>
            <a:ext cx="3328057" cy="34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IN" sz="2400" b="1" dirty="0">
                <a:solidFill>
                  <a:srgbClr val="0EA5E9"/>
                </a:solidFill>
                <a:latin typeface="Arial" panose="020B0604020202020204" pitchFamily="34" charset="0"/>
              </a:rPr>
              <a:t>🎯 </a:t>
            </a:r>
            <a:r>
              <a:rPr lang="en-US" sz="22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01958" y="893564"/>
            <a:ext cx="1922859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95.8%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1958" y="1347531"/>
            <a:ext cx="1922859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Accuracy (EfficientNet)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29442" y="1495151"/>
            <a:ext cx="1614865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9441" y="1973463"/>
            <a:ext cx="1614865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Types Classified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35064" y="2116626"/>
            <a:ext cx="1456538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5063" y="2612666"/>
            <a:ext cx="1456538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Validation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6014" y="2760657"/>
            <a:ext cx="1761722" cy="47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6014" y="3199827"/>
            <a:ext cx="1761722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Evaluation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7429" y="4049154"/>
            <a:ext cx="2837290" cy="93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ML-DL framework with explainability, validated across datasets, deployment-ready for supporting radiologist decision-making and improving patient outcomes</a:t>
            </a:r>
            <a:endParaRPr lang="en-US" sz="1140" dirty="0"/>
          </a:p>
        </p:txBody>
      </p:sp>
      <p:pic>
        <p:nvPicPr>
          <p:cNvPr id="3074" name="Picture 2" descr="Healthcare Innovation Impact">
            <a:extLst>
              <a:ext uri="{FF2B5EF4-FFF2-40B4-BE49-F238E27FC236}">
                <a16:creationId xmlns:a16="http://schemas.microsoft.com/office/drawing/2014/main" id="{D791D492-450B-4DBA-8143-DC91318E05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5"/>
          <a:stretch/>
        </p:blipFill>
        <p:spPr bwMode="auto">
          <a:xfrm>
            <a:off x="4820364" y="2571750"/>
            <a:ext cx="2589179" cy="2205880"/>
          </a:xfrm>
          <a:prstGeom prst="rect">
            <a:avLst/>
          </a:prstGeom>
          <a:noFill/>
          <a:effectLst>
            <a:softEdge rad="50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3C4F644-B999-4C5B-8C92-6F9D9C77044D}"/>
              </a:ext>
            </a:extLst>
          </p:cNvPr>
          <p:cNvSpPr/>
          <p:nvPr/>
        </p:nvSpPr>
        <p:spPr>
          <a:xfrm>
            <a:off x="4107431" y="304656"/>
            <a:ext cx="4739025" cy="208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solidFill>
                  <a:srgbClr val="0EA5E9"/>
                </a:solidFill>
                <a:latin typeface="Arial" panose="020B0604020202020204" pitchFamily="34" charset="0"/>
              </a:rPr>
              <a:t>Project Impact &amp; Outcomes</a:t>
            </a:r>
          </a:p>
          <a:p>
            <a:pPr algn="just"/>
            <a:endParaRPr lang="en-IN" b="1" dirty="0">
              <a:solidFill>
                <a:srgbClr val="0EA5E9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✓ </a:t>
            </a:r>
            <a:r>
              <a:rPr lang="en-IN" sz="1200" b="1" dirty="0">
                <a:solidFill>
                  <a:srgbClr val="CBD5E1"/>
                </a:solidFill>
                <a:latin typeface="Arial" panose="020B0604020202020204" pitchFamily="34" charset="0"/>
              </a:rPr>
              <a:t>Clinical Efficiency:</a:t>
            </a: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 1.5× faster diagnosis time</a:t>
            </a:r>
          </a:p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✓ </a:t>
            </a:r>
            <a:r>
              <a:rPr lang="en-IN" sz="1200" b="1" dirty="0">
                <a:solidFill>
                  <a:srgbClr val="CBD5E1"/>
                </a:solidFill>
                <a:latin typeface="Arial" panose="020B0604020202020204" pitchFamily="34" charset="0"/>
              </a:rPr>
              <a:t>Accuracy:</a:t>
            </a: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 95.8% classification rate achieved</a:t>
            </a:r>
          </a:p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✓ </a:t>
            </a:r>
            <a:r>
              <a:rPr lang="en-IN" sz="1200" b="1" dirty="0" err="1">
                <a:solidFill>
                  <a:srgbClr val="CBD5E1"/>
                </a:solidFill>
                <a:latin typeface="Arial" panose="020B0604020202020204" pitchFamily="34" charset="0"/>
              </a:rPr>
              <a:t>Explainability</a:t>
            </a:r>
            <a:r>
              <a:rPr lang="en-IN" sz="1200" b="1" dirty="0">
                <a:solidFill>
                  <a:srgbClr val="CBD5E1"/>
                </a:solidFill>
                <a:latin typeface="Arial" panose="020B0604020202020204" pitchFamily="34" charset="0"/>
              </a:rPr>
              <a:t>:</a:t>
            </a: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 92% radiologist validation (Grad-CAM)</a:t>
            </a:r>
          </a:p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✓ </a:t>
            </a:r>
            <a:r>
              <a:rPr lang="en-IN" sz="1200" b="1" dirty="0">
                <a:solidFill>
                  <a:srgbClr val="CBD5E1"/>
                </a:solidFill>
                <a:latin typeface="Arial" panose="020B0604020202020204" pitchFamily="34" charset="0"/>
              </a:rPr>
              <a:t>Scalability:</a:t>
            </a: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 Cross-dataset generalization proven</a:t>
            </a:r>
          </a:p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✓ </a:t>
            </a:r>
            <a:r>
              <a:rPr lang="en-IN" sz="1200" b="1" dirty="0">
                <a:solidFill>
                  <a:srgbClr val="CBD5E1"/>
                </a:solidFill>
                <a:latin typeface="Arial" panose="020B0604020202020204" pitchFamily="34" charset="0"/>
              </a:rPr>
              <a:t>Trust:</a:t>
            </a:r>
            <a:r>
              <a:rPr lang="en-IN" sz="1200" dirty="0">
                <a:solidFill>
                  <a:srgbClr val="CBD5E1"/>
                </a:solidFill>
                <a:latin typeface="Arial" panose="020B0604020202020204" pitchFamily="34" charset="0"/>
              </a:rPr>
              <a:t> Transparent AI for healthcare adoption</a:t>
            </a:r>
            <a:endParaRPr lang="en-IN" sz="1200" b="0" i="0" dirty="0">
              <a:solidFill>
                <a:srgbClr val="CBD5E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7971" y="237440"/>
            <a:ext cx="3328057" cy="34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22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57577" y="863268"/>
            <a:ext cx="7828845" cy="387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Abdulla, A.A. (2024) 'A computer-aided diagnosis system for brain tumors in magnetic resonance imaging (MRI),' Multimedia Tools and Applications [Preprint]. Available at: 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https://doi.org/10.1007/s11042-024-20117-x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endParaRPr lang="en-US" sz="114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Asad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R. et al. (2023) 'Computer-Aided Early Melanoma Brain-Tumor Detection using Deep-Learning approach,' Biomedicines, 11(1), p. 184. Available at: 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https://doi.org/10.3390/biomedicines11010184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endParaRPr lang="en-US" sz="114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Berghout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T. (2024) 'The Neural Frontier of Future Medical Imaging: A review of Deep Learning for Brain Tumor Detection,' Journal of Imaging, 11(1), p. 2. https://doi.org/10.3390/jimaging11010002. </a:t>
            </a: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endParaRPr lang="en-US" sz="114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Bouhafra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S. and </a:t>
            </a:r>
            <a:r>
              <a:rPr lang="en-US" sz="114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Bahi</a:t>
            </a: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H.E. (2024) 'Deep Learning Approaches for Brain Tumor Detection and Classification using MRI Images (2020 to 2024): A Systematic review,' Journal of Imaging Informatics in Medicine, 38(3), pp. 1403–1433. https://doi.org/10.1007/s10278-024-01283-8. </a:t>
            </a: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endParaRPr lang="en-US" sz="114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 algn="just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Farooqui, N.M.A. (2024) 'Machine Learning in Brain Tumor diagnosis: Assessing the efficacy of diverse methods,' Power System Technology, 48(4), pp. 4315–4323. https://doi.org/10.52783/pst.1272. </a:t>
            </a:r>
          </a:p>
          <a:p>
            <a:pPr algn="just">
              <a:lnSpc>
                <a:spcPts val="1596"/>
              </a:lnSpc>
            </a:pPr>
            <a:endParaRPr lang="en-US" sz="114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870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1101</Words>
  <Application>Microsoft Office PowerPoint</Application>
  <PresentationFormat>On-screen Show (16:9)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Sumanth Gogineni</cp:lastModifiedBy>
  <cp:revision>35</cp:revision>
  <dcterms:created xsi:type="dcterms:W3CDTF">2025-12-04T18:54:03Z</dcterms:created>
  <dcterms:modified xsi:type="dcterms:W3CDTF">2026-01-13T11:13:17Z</dcterms:modified>
</cp:coreProperties>
</file>